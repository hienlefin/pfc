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Montserrat SemiBold"/>
      <p:regular r:id="rId21"/>
      <p:bold r:id="rId22"/>
      <p:italic r:id="rId23"/>
      <p:boldItalic r:id="rId24"/>
    </p:embeddedFont>
    <p:embeddedFont>
      <p:font typeface="Inter SemiBold"/>
      <p:regular r:id="rId25"/>
      <p:bold r:id="rId26"/>
      <p:italic r:id="rId27"/>
      <p:boldItalic r:id="rId28"/>
    </p:embeddedFont>
    <p:embeddedFont>
      <p:font typeface="Montserrat"/>
      <p:regular r:id="rId29"/>
      <p:bold r:id="rId30"/>
      <p:italic r:id="rId31"/>
      <p:boldItalic r:id="rId32"/>
    </p:embeddedFont>
    <p:embeddedFont>
      <p:font typeface="Inter"/>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66EEE1-9492-4551-B953-5CDA3E3704A5}">
  <a:tblStyle styleId="{A266EEE1-9492-4551-B953-5CDA3E3704A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MontserratSemiBold-bold.fntdata"/><Relationship Id="rId21" Type="http://schemas.openxmlformats.org/officeDocument/2006/relationships/font" Target="fonts/MontserratSemiBold-regular.fntdata"/><Relationship Id="rId24" Type="http://schemas.openxmlformats.org/officeDocument/2006/relationships/font" Target="fonts/MontserratSemiBold-boldItalic.fntdata"/><Relationship Id="rId23" Type="http://schemas.openxmlformats.org/officeDocument/2006/relationships/font" Target="fonts/Montserrat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SemiBold-bold.fntdata"/><Relationship Id="rId25" Type="http://schemas.openxmlformats.org/officeDocument/2006/relationships/font" Target="fonts/InterSemiBold-regular.fntdata"/><Relationship Id="rId28" Type="http://schemas.openxmlformats.org/officeDocument/2006/relationships/font" Target="fonts/InterSemiBold-boldItalic.fntdata"/><Relationship Id="rId27" Type="http://schemas.openxmlformats.org/officeDocument/2006/relationships/font" Target="fonts/InterSemi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5.xml"/><Relationship Id="rId33" Type="http://schemas.openxmlformats.org/officeDocument/2006/relationships/font" Target="fonts/Inter-regular.fntdata"/><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35" Type="http://schemas.openxmlformats.org/officeDocument/2006/relationships/font" Target="fonts/Inter-italic.fntdata"/><Relationship Id="rId12" Type="http://schemas.openxmlformats.org/officeDocument/2006/relationships/slide" Target="slides/slide6.xml"/><Relationship Id="rId34" Type="http://schemas.openxmlformats.org/officeDocument/2006/relationships/font" Target="fonts/Inter-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Inter-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19.png"/><Relationship Id="rId6" Type="http://schemas.openxmlformats.org/officeDocument/2006/relationships/image" Target="../media/image18.png"/><Relationship Id="rId7"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633662" y="2485132"/>
            <a:ext cx="6924675"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4B8A6"/>
                </a:solidFill>
                <a:latin typeface="Inter SemiBold"/>
                <a:ea typeface="Inter SemiBold"/>
                <a:cs typeface="Inter SemiBold"/>
                <a:sym typeface="Inter SemiBold"/>
              </a:rPr>
              <a:t>PERSONAL FINANCE CLUB</a:t>
            </a:r>
            <a:endParaRPr/>
          </a:p>
        </p:txBody>
      </p:sp>
      <p:sp>
        <p:nvSpPr>
          <p:cNvPr id="86" name="Google Shape;86;p13"/>
          <p:cNvSpPr txBox="1"/>
          <p:nvPr/>
        </p:nvSpPr>
        <p:spPr>
          <a:xfrm>
            <a:off x="2460545" y="2949922"/>
            <a:ext cx="7270800" cy="808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0F172A"/>
                </a:solidFill>
                <a:latin typeface="Montserrat"/>
                <a:ea typeface="Montserrat"/>
                <a:cs typeface="Montserrat"/>
                <a:sym typeface="Montserrat"/>
              </a:rPr>
              <a:t>PFC STRATEGY 202</a:t>
            </a:r>
            <a:r>
              <a:rPr b="1" lang="en-US" sz="5250">
                <a:solidFill>
                  <a:srgbClr val="0F172A"/>
                </a:solidFill>
                <a:latin typeface="Montserrat"/>
                <a:ea typeface="Montserrat"/>
                <a:cs typeface="Montserrat"/>
                <a:sym typeface="Montserrat"/>
              </a:rPr>
              <a:t>6</a:t>
            </a:r>
            <a:endParaRPr/>
          </a:p>
        </p:txBody>
      </p:sp>
      <p:sp>
        <p:nvSpPr>
          <p:cNvPr id="87" name="Google Shape;87;p13"/>
          <p:cNvSpPr txBox="1"/>
          <p:nvPr/>
        </p:nvSpPr>
        <p:spPr>
          <a:xfrm>
            <a:off x="2633662" y="4054822"/>
            <a:ext cx="69246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475569"/>
                </a:solidFill>
                <a:latin typeface="Inter"/>
                <a:ea typeface="Inter"/>
                <a:cs typeface="Inter"/>
                <a:sym typeface="Inter"/>
              </a:rPr>
              <a:t>Định hướng phát triển, mục tiêu &amp; phân chia công việc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6334125" y="2041326"/>
            <a:ext cx="5286375" cy="3619500"/>
          </a:xfrm>
          <a:prstGeom prst="rect">
            <a:avLst/>
          </a:prstGeom>
          <a:noFill/>
          <a:ln>
            <a:noFill/>
          </a:ln>
        </p:spPr>
      </p:pic>
      <p:sp>
        <p:nvSpPr>
          <p:cNvPr id="94" name="Google Shape;94;p14"/>
          <p:cNvSpPr txBox="1"/>
          <p:nvPr/>
        </p:nvSpPr>
        <p:spPr>
          <a:xfrm>
            <a:off x="571500" y="2041326"/>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PFC là cộng đồng dành cho sinh viên quan tâm đến tài chính cá nhân, quản lý tiền bạc và các cơ hội thực tế.</a:t>
            </a:r>
            <a:endParaRPr/>
          </a:p>
        </p:txBody>
      </p:sp>
      <p:sp>
        <p:nvSpPr>
          <p:cNvPr id="95" name="Google Shape;95;p14"/>
          <p:cNvSpPr txBox="1"/>
          <p:nvPr/>
        </p:nvSpPr>
        <p:spPr>
          <a:xfrm>
            <a:off x="571500" y="5294858"/>
            <a:ext cx="52863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4B8A6"/>
                </a:solidFill>
                <a:latin typeface="Inter SemiBold"/>
                <a:ea typeface="Inter SemiBold"/>
                <a:cs typeface="Inter SemiBold"/>
                <a:sym typeface="Inter SemiBold"/>
              </a:rPr>
              <a:t>Chúng tôi giúp sinh viên có năng lực tài chính thực sự.</a:t>
            </a:r>
            <a:endParaRPr/>
          </a:p>
        </p:txBody>
      </p:sp>
      <p:sp>
        <p:nvSpPr>
          <p:cNvPr id="96" name="Google Shape;96;p14"/>
          <p:cNvSpPr txBox="1"/>
          <p:nvPr/>
        </p:nvSpPr>
        <p:spPr>
          <a:xfrm>
            <a:off x="714375" y="2840474"/>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97" name="Google Shape;97;p14"/>
          <p:cNvSpPr txBox="1"/>
          <p:nvPr/>
        </p:nvSpPr>
        <p:spPr>
          <a:xfrm>
            <a:off x="809625" y="2841426"/>
            <a:ext cx="5048250" cy="27429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Learn:</a:t>
            </a:r>
            <a:r>
              <a:rPr b="0" i="0" lang="en-US" sz="1350" u="none" cap="none" strike="noStrike">
                <a:solidFill>
                  <a:srgbClr val="334155"/>
                </a:solidFill>
                <a:latin typeface="Inter"/>
                <a:ea typeface="Inter"/>
                <a:cs typeface="Inter"/>
                <a:sym typeface="Inter"/>
              </a:rPr>
              <a:t> Học kiến thức tài chính cá nhân một cách bài bản.</a:t>
            </a:r>
            <a:endParaRPr/>
          </a:p>
        </p:txBody>
      </p:sp>
      <p:sp>
        <p:nvSpPr>
          <p:cNvPr id="98" name="Google Shape;98;p14"/>
          <p:cNvSpPr txBox="1"/>
          <p:nvPr/>
        </p:nvSpPr>
        <p:spPr>
          <a:xfrm>
            <a:off x="714375" y="3229064"/>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99" name="Google Shape;99;p14"/>
          <p:cNvSpPr txBox="1"/>
          <p:nvPr/>
        </p:nvSpPr>
        <p:spPr>
          <a:xfrm>
            <a:off x="809625" y="3230016"/>
            <a:ext cx="5048250" cy="54858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Practice:</a:t>
            </a:r>
            <a:r>
              <a:rPr b="0" i="0" lang="en-US" sz="1350" u="none" cap="none" strike="noStrike">
                <a:solidFill>
                  <a:srgbClr val="334155"/>
                </a:solidFill>
                <a:latin typeface="Inter"/>
                <a:ea typeface="Inter"/>
                <a:cs typeface="Inter"/>
                <a:sym typeface="Inter"/>
              </a:rPr>
              <a:t> Áp dụng kiến thức vào đời sống thật qua các challenge.</a:t>
            </a:r>
            <a:endParaRPr/>
          </a:p>
        </p:txBody>
      </p:sp>
      <p:sp>
        <p:nvSpPr>
          <p:cNvPr id="100" name="Google Shape;100;p14"/>
          <p:cNvSpPr txBox="1"/>
          <p:nvPr/>
        </p:nvSpPr>
        <p:spPr>
          <a:xfrm>
            <a:off x="714375" y="3891944"/>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101" name="Google Shape;101;p14"/>
          <p:cNvSpPr txBox="1"/>
          <p:nvPr/>
        </p:nvSpPr>
        <p:spPr>
          <a:xfrm>
            <a:off x="809625" y="3892897"/>
            <a:ext cx="5048250" cy="54858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Build:</a:t>
            </a:r>
            <a:r>
              <a:rPr b="0" i="0" lang="en-US" sz="1350" u="none" cap="none" strike="noStrike">
                <a:solidFill>
                  <a:srgbClr val="334155"/>
                </a:solidFill>
                <a:latin typeface="Inter"/>
                <a:ea typeface="Inter"/>
                <a:cs typeface="Inter"/>
                <a:sym typeface="Inter"/>
              </a:rPr>
              <a:t> Xây dựng dự án, sản phẩm, content và công cụ tài chính.</a:t>
            </a:r>
            <a:endParaRPr/>
          </a:p>
        </p:txBody>
      </p:sp>
      <p:sp>
        <p:nvSpPr>
          <p:cNvPr id="102" name="Google Shape;102;p14"/>
          <p:cNvSpPr txBox="1"/>
          <p:nvPr/>
        </p:nvSpPr>
        <p:spPr>
          <a:xfrm>
            <a:off x="714375" y="4554825"/>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103" name="Google Shape;103;p14"/>
          <p:cNvSpPr txBox="1"/>
          <p:nvPr/>
        </p:nvSpPr>
        <p:spPr>
          <a:xfrm>
            <a:off x="809625" y="4555777"/>
            <a:ext cx="5048250" cy="54858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Connect:</a:t>
            </a:r>
            <a:r>
              <a:rPr b="0" i="0" lang="en-US" sz="1350" u="none" cap="none" strike="noStrike">
                <a:solidFill>
                  <a:srgbClr val="334155"/>
                </a:solidFill>
                <a:latin typeface="Inter"/>
                <a:ea typeface="Inter"/>
                <a:cs typeface="Inter"/>
                <a:sym typeface="Inter"/>
              </a:rPr>
              <a:t> Kết nối với alumni, diễn giả, doanh nghiệp và các cơ hội.</a:t>
            </a:r>
            <a:endParaRPr/>
          </a:p>
        </p:txBody>
      </p:sp>
      <p:pic>
        <p:nvPicPr>
          <p:cNvPr descr="image.png" id="104" name="Google Shape;104;p14"/>
          <p:cNvPicPr preferRelativeResize="0"/>
          <p:nvPr/>
        </p:nvPicPr>
        <p:blipFill rotWithShape="1">
          <a:blip r:embed="rId5">
            <a:alphaModFix/>
          </a:blip>
          <a:srcRect b="0" l="0" r="0" t="0"/>
          <a:stretch/>
        </p:blipFill>
        <p:spPr>
          <a:xfrm>
            <a:off x="6334125" y="2041326"/>
            <a:ext cx="5286375" cy="3619500"/>
          </a:xfrm>
          <a:prstGeom prst="rect">
            <a:avLst/>
          </a:prstGeom>
          <a:noFill/>
          <a:ln>
            <a:noFill/>
          </a:ln>
        </p:spPr>
      </p:pic>
      <p:sp>
        <p:nvSpPr>
          <p:cNvPr id="105" name="Google Shape;105;p14"/>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PFC Là Ai?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pic>
        <p:nvPicPr>
          <p:cNvPr descr="image.png"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1" name="Google Shape;111;p15"/>
          <p:cNvPicPr preferRelativeResize="0"/>
          <p:nvPr/>
        </p:nvPicPr>
        <p:blipFill rotWithShape="1">
          <a:blip r:embed="rId4">
            <a:alphaModFix/>
          </a:blip>
          <a:srcRect b="0" l="0" r="0" t="0"/>
          <a:stretch/>
        </p:blipFill>
        <p:spPr>
          <a:xfrm>
            <a:off x="571500" y="2066032"/>
            <a:ext cx="3492549" cy="3621285"/>
          </a:xfrm>
          <a:prstGeom prst="rect">
            <a:avLst/>
          </a:prstGeom>
          <a:noFill/>
          <a:ln>
            <a:noFill/>
          </a:ln>
        </p:spPr>
      </p:pic>
      <p:pic>
        <p:nvPicPr>
          <p:cNvPr descr="image.png" id="112" name="Google Shape;112;p15"/>
          <p:cNvPicPr preferRelativeResize="0"/>
          <p:nvPr/>
        </p:nvPicPr>
        <p:blipFill rotWithShape="1">
          <a:blip r:embed="rId5">
            <a:alphaModFix/>
          </a:blip>
          <a:srcRect b="0" l="0" r="0" t="0"/>
          <a:stretch/>
        </p:blipFill>
        <p:spPr>
          <a:xfrm>
            <a:off x="4349799" y="2066032"/>
            <a:ext cx="3492549" cy="3621285"/>
          </a:xfrm>
          <a:prstGeom prst="rect">
            <a:avLst/>
          </a:prstGeom>
          <a:noFill/>
          <a:ln>
            <a:noFill/>
          </a:ln>
        </p:spPr>
      </p:pic>
      <p:pic>
        <p:nvPicPr>
          <p:cNvPr descr="image.png" id="113" name="Google Shape;113;p15"/>
          <p:cNvPicPr preferRelativeResize="0"/>
          <p:nvPr/>
        </p:nvPicPr>
        <p:blipFill rotWithShape="1">
          <a:blip r:embed="rId6">
            <a:alphaModFix/>
          </a:blip>
          <a:srcRect b="0" l="0" r="0" t="0"/>
          <a:stretch/>
        </p:blipFill>
        <p:spPr>
          <a:xfrm>
            <a:off x="8128099" y="2066032"/>
            <a:ext cx="3492549" cy="3621285"/>
          </a:xfrm>
          <a:prstGeom prst="rect">
            <a:avLst/>
          </a:prstGeom>
          <a:noFill/>
          <a:ln>
            <a:noFill/>
          </a:ln>
        </p:spPr>
      </p:pic>
      <p:sp>
        <p:nvSpPr>
          <p:cNvPr id="114" name="Google Shape;114;p15"/>
          <p:cNvSpPr txBox="1"/>
          <p:nvPr/>
        </p:nvSpPr>
        <p:spPr>
          <a:xfrm>
            <a:off x="797510" y="3266182"/>
            <a:ext cx="304038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F172A"/>
                </a:solidFill>
                <a:latin typeface="Montserrat"/>
                <a:ea typeface="Montserrat"/>
                <a:cs typeface="Montserrat"/>
                <a:sym typeface="Montserrat"/>
              </a:rPr>
              <a:t>1. Understand Money</a:t>
            </a:r>
            <a:endParaRPr/>
          </a:p>
        </p:txBody>
      </p:sp>
      <p:sp>
        <p:nvSpPr>
          <p:cNvPr id="115" name="Google Shape;115;p15"/>
          <p:cNvSpPr txBox="1"/>
          <p:nvPr/>
        </p:nvSpPr>
        <p:spPr>
          <a:xfrm>
            <a:off x="866775" y="3732907"/>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Hiểu về tiền, thu nhập, chi tiêu, tiết kiệm, đầu tư, thuế, và bảo hiểm một cách rõ ràng, dễ tiếp cận nhất cho sinh viên.</a:t>
            </a:r>
            <a:endParaRPr/>
          </a:p>
        </p:txBody>
      </p:sp>
      <p:sp>
        <p:nvSpPr>
          <p:cNvPr id="116" name="Google Shape;116;p15"/>
          <p:cNvSpPr txBox="1"/>
          <p:nvPr/>
        </p:nvSpPr>
        <p:spPr>
          <a:xfrm>
            <a:off x="4775835" y="3266182"/>
            <a:ext cx="264033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F172A"/>
                </a:solidFill>
                <a:latin typeface="Montserrat"/>
                <a:ea typeface="Montserrat"/>
                <a:cs typeface="Montserrat"/>
                <a:sym typeface="Montserrat"/>
              </a:rPr>
              <a:t>2. Manage &amp; Grow</a:t>
            </a:r>
            <a:endParaRPr/>
          </a:p>
        </p:txBody>
      </p:sp>
      <p:sp>
        <p:nvSpPr>
          <p:cNvPr id="117" name="Google Shape;117;p15"/>
          <p:cNvSpPr txBox="1"/>
          <p:nvPr/>
        </p:nvSpPr>
        <p:spPr>
          <a:xfrm>
            <a:off x="4645074" y="3732907"/>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Biết kiểm soát chi tiêu, lập ngân sách, xây dựng thói quen tốt, từ đó gia tăng thu nhập và lập kế hoạch dài hạn.</a:t>
            </a:r>
            <a:endParaRPr/>
          </a:p>
        </p:txBody>
      </p:sp>
      <p:sp>
        <p:nvSpPr>
          <p:cNvPr id="118" name="Google Shape;118;p15"/>
          <p:cNvSpPr txBox="1"/>
          <p:nvPr/>
        </p:nvSpPr>
        <p:spPr>
          <a:xfrm>
            <a:off x="8350824" y="3266182"/>
            <a:ext cx="3047099"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F172A"/>
                </a:solidFill>
                <a:latin typeface="Montserrat"/>
                <a:ea typeface="Montserrat"/>
                <a:cs typeface="Montserrat"/>
                <a:sym typeface="Montserrat"/>
              </a:rPr>
              <a:t>3. Create Opportunities</a:t>
            </a:r>
            <a:endParaRPr/>
          </a:p>
        </p:txBody>
      </p:sp>
      <p:sp>
        <p:nvSpPr>
          <p:cNvPr id="119" name="Google Shape;119;p15"/>
          <p:cNvSpPr txBox="1"/>
          <p:nvPr/>
        </p:nvSpPr>
        <p:spPr>
          <a:xfrm>
            <a:off x="8423374" y="4056757"/>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Biến kiến thức thành dự án, công việc, internship, CTV và các mối quan hệ doanh nghiệp giá trị (Business Connections).</a:t>
            </a:r>
            <a:endParaRPr/>
          </a:p>
        </p:txBody>
      </p:sp>
      <p:pic>
        <p:nvPicPr>
          <p:cNvPr descr="image.png" id="120" name="Google Shape;120;p15"/>
          <p:cNvPicPr preferRelativeResize="0"/>
          <p:nvPr/>
        </p:nvPicPr>
        <p:blipFill rotWithShape="1">
          <a:blip r:embed="rId7">
            <a:alphaModFix/>
          </a:blip>
          <a:srcRect b="0" l="0" r="0" t="0"/>
          <a:stretch/>
        </p:blipFill>
        <p:spPr>
          <a:xfrm>
            <a:off x="2051000" y="2494657"/>
            <a:ext cx="533400" cy="476250"/>
          </a:xfrm>
          <a:prstGeom prst="rect">
            <a:avLst/>
          </a:prstGeom>
          <a:noFill/>
          <a:ln>
            <a:noFill/>
          </a:ln>
        </p:spPr>
      </p:pic>
      <p:pic>
        <p:nvPicPr>
          <p:cNvPr descr="image.png" id="121" name="Google Shape;121;p15"/>
          <p:cNvPicPr preferRelativeResize="0"/>
          <p:nvPr/>
        </p:nvPicPr>
        <p:blipFill rotWithShape="1">
          <a:blip r:embed="rId8">
            <a:alphaModFix/>
          </a:blip>
          <a:srcRect b="0" l="0" r="0" t="0"/>
          <a:stretch/>
        </p:blipFill>
        <p:spPr>
          <a:xfrm>
            <a:off x="5857875" y="2494657"/>
            <a:ext cx="476250" cy="476250"/>
          </a:xfrm>
          <a:prstGeom prst="rect">
            <a:avLst/>
          </a:prstGeom>
          <a:noFill/>
          <a:ln>
            <a:noFill/>
          </a:ln>
        </p:spPr>
      </p:pic>
      <p:pic>
        <p:nvPicPr>
          <p:cNvPr descr="image.png" id="122" name="Google Shape;122;p15"/>
          <p:cNvPicPr preferRelativeResize="0"/>
          <p:nvPr/>
        </p:nvPicPr>
        <p:blipFill rotWithShape="1">
          <a:blip r:embed="rId9">
            <a:alphaModFix/>
          </a:blip>
          <a:srcRect b="0" l="0" r="0" t="0"/>
          <a:stretch/>
        </p:blipFill>
        <p:spPr>
          <a:xfrm>
            <a:off x="9636174" y="2494657"/>
            <a:ext cx="476250" cy="476250"/>
          </a:xfrm>
          <a:prstGeom prst="rect">
            <a:avLst/>
          </a:prstGeom>
          <a:noFill/>
          <a:ln>
            <a:noFill/>
          </a:ln>
        </p:spPr>
      </p:pic>
      <p:sp>
        <p:nvSpPr>
          <p:cNvPr id="123" name="Google Shape;123;p15"/>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Hành Trình Giá Trị Của PFC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pic>
        <p:nvPicPr>
          <p:cNvPr descr="image.png" id="128" name="Google Shape;128;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9" name="Google Shape;129;p16"/>
          <p:cNvSpPr txBox="1"/>
          <p:nvPr/>
        </p:nvSpPr>
        <p:spPr>
          <a:xfrm>
            <a:off x="762000" y="762000"/>
            <a:ext cx="5300662"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Sự Khác Biệt Của PFC</a:t>
            </a:r>
            <a:endParaRPr/>
          </a:p>
        </p:txBody>
      </p:sp>
      <p:pic>
        <p:nvPicPr>
          <p:cNvPr descr="image.png" id="130" name="Google Shape;130;p16"/>
          <p:cNvPicPr preferRelativeResize="0"/>
          <p:nvPr/>
        </p:nvPicPr>
        <p:blipFill rotWithShape="1">
          <a:blip r:embed="rId4">
            <a:alphaModFix/>
          </a:blip>
          <a:srcRect b="0" l="0" r="0" t="0"/>
          <a:stretch/>
        </p:blipFill>
        <p:spPr>
          <a:xfrm>
            <a:off x="6381750" y="0"/>
            <a:ext cx="5810250" cy="6858000"/>
          </a:xfrm>
          <a:prstGeom prst="rect">
            <a:avLst/>
          </a:prstGeom>
          <a:noFill/>
          <a:ln>
            <a:noFill/>
          </a:ln>
        </p:spPr>
      </p:pic>
      <p:sp>
        <p:nvSpPr>
          <p:cNvPr id="131" name="Google Shape;131;p16"/>
          <p:cNvSpPr txBox="1"/>
          <p:nvPr/>
        </p:nvSpPr>
        <p:spPr>
          <a:xfrm>
            <a:off x="762000" y="1633537"/>
            <a:ext cx="5300662"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4B8A6"/>
                </a:solidFill>
                <a:latin typeface="Montserrat"/>
                <a:ea typeface="Montserrat"/>
                <a:cs typeface="Montserrat"/>
                <a:sym typeface="Montserrat"/>
              </a:rPr>
              <a:t>A Personal Finance Ecosystem</a:t>
            </a:r>
            <a:endParaRPr/>
          </a:p>
        </p:txBody>
      </p:sp>
      <p:sp>
        <p:nvSpPr>
          <p:cNvPr id="132" name="Google Shape;132;p16"/>
          <p:cNvSpPr txBox="1"/>
          <p:nvPr/>
        </p:nvSpPr>
        <p:spPr>
          <a:xfrm>
            <a:off x="762000" y="2128837"/>
            <a:ext cx="5048250" cy="6858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1500" u="none" cap="none" strike="noStrike">
                <a:solidFill>
                  <a:srgbClr val="334155"/>
                </a:solidFill>
                <a:latin typeface="Inter"/>
                <a:ea typeface="Inter"/>
                <a:cs typeface="Inter"/>
                <a:sym typeface="Inter"/>
              </a:rPr>
              <a:t>PFC không chỉ là một CLB đăng bài kiến thức hay tổ chức các buổi workshop rời rạc, thiếu định hướng.</a:t>
            </a:r>
            <a:endParaRPr/>
          </a:p>
        </p:txBody>
      </p:sp>
      <p:sp>
        <p:nvSpPr>
          <p:cNvPr id="133" name="Google Shape;133;p16"/>
          <p:cNvSpPr txBox="1"/>
          <p:nvPr/>
        </p:nvSpPr>
        <p:spPr>
          <a:xfrm>
            <a:off x="762000" y="3052762"/>
            <a:ext cx="5048250" cy="13716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1500" u="none" cap="none" strike="noStrike">
                <a:solidFill>
                  <a:srgbClr val="334155"/>
                </a:solidFill>
                <a:latin typeface="Inter"/>
                <a:ea typeface="Inter"/>
                <a:cs typeface="Inter"/>
                <a:sym typeface="Inter"/>
              </a:rPr>
              <a:t>Chúng tôi hướng tới xây dựng một </a:t>
            </a:r>
            <a:r>
              <a:rPr b="1" i="0" lang="en-US" sz="1500" u="none" cap="none" strike="noStrike">
                <a:solidFill>
                  <a:srgbClr val="334155"/>
                </a:solidFill>
                <a:latin typeface="Inter"/>
                <a:ea typeface="Inter"/>
                <a:cs typeface="Inter"/>
                <a:sym typeface="Inter"/>
              </a:rPr>
              <a:t>hệ sinh thái tài chính cá nhân</a:t>
            </a:r>
            <a:r>
              <a:rPr b="0" i="0" lang="en-US" sz="1500" u="none" cap="none" strike="noStrike">
                <a:solidFill>
                  <a:srgbClr val="334155"/>
                </a:solidFill>
                <a:latin typeface="Inter"/>
                <a:ea typeface="Inter"/>
                <a:cs typeface="Inter"/>
                <a:sym typeface="Inter"/>
              </a:rPr>
              <a:t> toàn diện dành cho sinh viên và người trẻ, bao gồm: Cộng đồng, Giáo dục, Thực hành, Dự án, Cơ hội và nền tảng Webapp.</a:t>
            </a:r>
            <a:endParaRPr/>
          </a:p>
        </p:txBody>
      </p:sp>
      <p:sp>
        <p:nvSpPr>
          <p:cNvPr id="134" name="Google Shape;134;p16"/>
          <p:cNvSpPr txBox="1"/>
          <p:nvPr/>
        </p:nvSpPr>
        <p:spPr>
          <a:xfrm>
            <a:off x="762000" y="4662487"/>
            <a:ext cx="5048250" cy="10287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1500" u="none" cap="none" strike="noStrike">
                <a:solidFill>
                  <a:srgbClr val="334155"/>
                </a:solidFill>
                <a:latin typeface="Inter"/>
                <a:ea typeface="Inter"/>
                <a:cs typeface="Inter"/>
                <a:sym typeface="Inter"/>
              </a:rPr>
              <a:t>Điểm khác biệt cốt lõi: Không chỉ học lý thuyết, mà biến tài chính cá nhân thành hoạt động, dự án thực tế và công cụ hữu ích.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image.png" id="139" name="Google Shape;139;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0" name="Google Shape;140;p17"/>
          <p:cNvSpPr txBox="1"/>
          <p:nvPr/>
        </p:nvSpPr>
        <p:spPr>
          <a:xfrm>
            <a:off x="1595437" y="2366069"/>
            <a:ext cx="9001125" cy="695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FFFFFF"/>
                </a:solidFill>
                <a:latin typeface="Montserrat"/>
                <a:ea typeface="Montserrat"/>
                <a:cs typeface="Montserrat"/>
                <a:sym typeface="Montserrat"/>
              </a:rPr>
              <a:t>Tầm Nhìn 5-10 Năm</a:t>
            </a:r>
            <a:endParaRPr/>
          </a:p>
        </p:txBody>
      </p:sp>
      <p:sp>
        <p:nvSpPr>
          <p:cNvPr id="141" name="Google Shape;141;p17"/>
          <p:cNvSpPr txBox="1"/>
          <p:nvPr/>
        </p:nvSpPr>
        <p:spPr>
          <a:xfrm>
            <a:off x="1809750" y="3251894"/>
            <a:ext cx="8572500" cy="1097012"/>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F8FAFC"/>
                </a:solidFill>
                <a:latin typeface="Inter"/>
                <a:ea typeface="Inter"/>
                <a:cs typeface="Inter"/>
                <a:sym typeface="Inter"/>
              </a:rPr>
              <a:t>Trở thành một hệ sinh thái tài chính cá nhân hàng đầu dành cho sinh viên và người trẻ, nơi kiến thức tài chính được chuyển hóa thành năng lực, trải nghiệm, sản phẩm và cơ hội thực tế.</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pic>
        <p:nvPicPr>
          <p:cNvPr descr="image.png" id="146" name="Google Shape;146;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7" name="Google Shape;147;p18"/>
          <p:cNvPicPr preferRelativeResize="0"/>
          <p:nvPr/>
        </p:nvPicPr>
        <p:blipFill rotWithShape="1">
          <a:blip r:embed="rId4">
            <a:alphaModFix/>
          </a:blip>
          <a:srcRect b="0" l="0" r="0" t="0"/>
          <a:stretch/>
        </p:blipFill>
        <p:spPr>
          <a:xfrm>
            <a:off x="571500" y="1869876"/>
            <a:ext cx="5286375" cy="4013596"/>
          </a:xfrm>
          <a:prstGeom prst="rect">
            <a:avLst/>
          </a:prstGeom>
          <a:noFill/>
          <a:ln>
            <a:noFill/>
          </a:ln>
        </p:spPr>
      </p:pic>
      <p:pic>
        <p:nvPicPr>
          <p:cNvPr descr="image.png" id="148" name="Google Shape;148;p18"/>
          <p:cNvPicPr preferRelativeResize="0"/>
          <p:nvPr/>
        </p:nvPicPr>
        <p:blipFill rotWithShape="1">
          <a:blip r:embed="rId5">
            <a:alphaModFix/>
          </a:blip>
          <a:srcRect b="0" l="0" r="0" t="0"/>
          <a:stretch/>
        </p:blipFill>
        <p:spPr>
          <a:xfrm>
            <a:off x="6334125" y="1869876"/>
            <a:ext cx="5286375" cy="4013596"/>
          </a:xfrm>
          <a:prstGeom prst="rect">
            <a:avLst/>
          </a:prstGeom>
          <a:noFill/>
          <a:ln>
            <a:noFill/>
          </a:ln>
        </p:spPr>
      </p:pic>
      <p:sp>
        <p:nvSpPr>
          <p:cNvPr id="149" name="Google Shape;149;p18"/>
          <p:cNvSpPr txBox="1"/>
          <p:nvPr/>
        </p:nvSpPr>
        <p:spPr>
          <a:xfrm>
            <a:off x="962025" y="2260401"/>
            <a:ext cx="473059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Montserrat"/>
                <a:ea typeface="Montserrat"/>
                <a:cs typeface="Montserrat"/>
                <a:sym typeface="Montserrat"/>
              </a:rPr>
              <a:t>Phát Triển Nội Bộ &amp; Giá Trị</a:t>
            </a:r>
            <a:endParaRPr/>
          </a:p>
        </p:txBody>
      </p:sp>
      <p:sp>
        <p:nvSpPr>
          <p:cNvPr id="150" name="Google Shape;150;p18"/>
          <p:cNvSpPr txBox="1"/>
          <p:nvPr/>
        </p:nvSpPr>
        <p:spPr>
          <a:xfrm>
            <a:off x="962025" y="2727126"/>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1. Community:</a:t>
            </a:r>
            <a:r>
              <a:rPr b="0" i="0" lang="en-US" sz="1350" u="none" cap="none" strike="noStrike">
                <a:solidFill>
                  <a:srgbClr val="334155"/>
                </a:solidFill>
                <a:latin typeface="Inter"/>
                <a:ea typeface="Inter"/>
                <a:cs typeface="Inter"/>
                <a:sym typeface="Inter"/>
              </a:rPr>
              <a:t> Xây dựng cộng đồng sinh viên và alumni quan tâm tài chính.</a:t>
            </a:r>
            <a:endParaRPr/>
          </a:p>
        </p:txBody>
      </p:sp>
      <p:sp>
        <p:nvSpPr>
          <p:cNvPr id="151" name="Google Shape;151;p18"/>
          <p:cNvSpPr txBox="1"/>
          <p:nvPr/>
        </p:nvSpPr>
        <p:spPr>
          <a:xfrm>
            <a:off x="962025" y="3418582"/>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2. Education:</a:t>
            </a:r>
            <a:r>
              <a:rPr b="0" i="0" lang="en-US" sz="1350" u="none" cap="none" strike="noStrike">
                <a:solidFill>
                  <a:srgbClr val="334155"/>
                </a:solidFill>
                <a:latin typeface="Inter"/>
                <a:ea typeface="Inter"/>
                <a:cs typeface="Inter"/>
                <a:sym typeface="Inter"/>
              </a:rPr>
              <a:t> Tạo content, workshop, mentoring chuyên sâu.</a:t>
            </a:r>
            <a:endParaRPr/>
          </a:p>
        </p:txBody>
      </p:sp>
      <p:sp>
        <p:nvSpPr>
          <p:cNvPr id="152" name="Google Shape;152;p18"/>
          <p:cNvSpPr txBox="1"/>
          <p:nvPr/>
        </p:nvSpPr>
        <p:spPr>
          <a:xfrm>
            <a:off x="962025" y="4110037"/>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3. Practice:</a:t>
            </a:r>
            <a:r>
              <a:rPr b="0" i="0" lang="en-US" sz="1350" u="none" cap="none" strike="noStrike">
                <a:solidFill>
                  <a:srgbClr val="334155"/>
                </a:solidFill>
                <a:latin typeface="Inter"/>
                <a:ea typeface="Inter"/>
                <a:cs typeface="Inter"/>
                <a:sym typeface="Inter"/>
              </a:rPr>
              <a:t> Tổ chức các challenge (budgeting, investment).</a:t>
            </a:r>
            <a:endParaRPr/>
          </a:p>
        </p:txBody>
      </p:sp>
      <p:sp>
        <p:nvSpPr>
          <p:cNvPr id="153" name="Google Shape;153;p18"/>
          <p:cNvSpPr txBox="1"/>
          <p:nvPr/>
        </p:nvSpPr>
        <p:spPr>
          <a:xfrm>
            <a:off x="962025" y="4801492"/>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4. Projects:</a:t>
            </a:r>
            <a:r>
              <a:rPr b="0" i="0" lang="en-US" sz="1350" u="none" cap="none" strike="noStrike">
                <a:solidFill>
                  <a:srgbClr val="334155"/>
                </a:solidFill>
                <a:latin typeface="Inter"/>
                <a:ea typeface="Inter"/>
                <a:cs typeface="Inter"/>
                <a:sym typeface="Inter"/>
              </a:rPr>
              <a:t> Môi trường thực hành qua research, fintech project.</a:t>
            </a:r>
            <a:endParaRPr/>
          </a:p>
        </p:txBody>
      </p:sp>
      <p:sp>
        <p:nvSpPr>
          <p:cNvPr id="154" name="Google Shape;154;p18"/>
          <p:cNvSpPr txBox="1"/>
          <p:nvPr/>
        </p:nvSpPr>
        <p:spPr>
          <a:xfrm>
            <a:off x="6724650" y="2260401"/>
            <a:ext cx="473059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Montserrat"/>
                <a:ea typeface="Montserrat"/>
                <a:cs typeface="Montserrat"/>
                <a:sym typeface="Montserrat"/>
              </a:rPr>
              <a:t>Nền Tảng &amp; Mở Rộng</a:t>
            </a:r>
            <a:endParaRPr/>
          </a:p>
        </p:txBody>
      </p:sp>
      <p:sp>
        <p:nvSpPr>
          <p:cNvPr id="155" name="Google Shape;155;p18"/>
          <p:cNvSpPr txBox="1"/>
          <p:nvPr/>
        </p:nvSpPr>
        <p:spPr>
          <a:xfrm>
            <a:off x="6724650" y="2727126"/>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5. Webapp / Product:</a:t>
            </a:r>
            <a:r>
              <a:rPr b="0" i="0" lang="en-US" sz="1350" u="none" cap="none" strike="noStrike">
                <a:solidFill>
                  <a:srgbClr val="334155"/>
                </a:solidFill>
                <a:latin typeface="Inter"/>
                <a:ea typeface="Inter"/>
                <a:cs typeface="Inter"/>
                <a:sym typeface="Inter"/>
              </a:rPr>
              <a:t> Xây dựng nền tảng số (Digital Hub) của CLB.</a:t>
            </a:r>
            <a:endParaRPr/>
          </a:p>
        </p:txBody>
      </p:sp>
      <p:sp>
        <p:nvSpPr>
          <p:cNvPr id="156" name="Google Shape;156;p18"/>
          <p:cNvSpPr txBox="1"/>
          <p:nvPr/>
        </p:nvSpPr>
        <p:spPr>
          <a:xfrm>
            <a:off x="6724650" y="3418582"/>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6. Connections:</a:t>
            </a:r>
            <a:r>
              <a:rPr b="0" i="0" lang="en-US" sz="1350" u="none" cap="none" strike="noStrike">
                <a:solidFill>
                  <a:srgbClr val="334155"/>
                </a:solidFill>
                <a:latin typeface="Inter"/>
                <a:ea typeface="Inter"/>
                <a:cs typeface="Inter"/>
                <a:sym typeface="Inter"/>
              </a:rPr>
              <a:t> Kết nối alumni, doanh nghiệp, ngân hàng, fintech.</a:t>
            </a:r>
            <a:endParaRPr/>
          </a:p>
        </p:txBody>
      </p:sp>
      <p:sp>
        <p:nvSpPr>
          <p:cNvPr id="157" name="Google Shape;157;p18"/>
          <p:cNvSpPr txBox="1"/>
          <p:nvPr/>
        </p:nvSpPr>
        <p:spPr>
          <a:xfrm>
            <a:off x="6724650" y="4110037"/>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7. Communication:</a:t>
            </a:r>
            <a:r>
              <a:rPr b="0" i="0" lang="en-US" sz="1350" u="none" cap="none" strike="noStrike">
                <a:solidFill>
                  <a:srgbClr val="334155"/>
                </a:solidFill>
                <a:latin typeface="Inter"/>
                <a:ea typeface="Inter"/>
                <a:cs typeface="Inter"/>
                <a:sym typeface="Inter"/>
              </a:rPr>
              <a:t> Xây dựng thương hiệu và hình ảnh uy tín.</a:t>
            </a:r>
            <a:endParaRPr/>
          </a:p>
        </p:txBody>
      </p:sp>
      <p:sp>
        <p:nvSpPr>
          <p:cNvPr id="158" name="Google Shape;158;p18"/>
          <p:cNvSpPr txBox="1"/>
          <p:nvPr/>
        </p:nvSpPr>
        <p:spPr>
          <a:xfrm>
            <a:off x="6724650" y="4801492"/>
            <a:ext cx="45053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8. Operation:</a:t>
            </a:r>
            <a:r>
              <a:rPr b="0" i="0" lang="en-US" sz="1350" u="none" cap="none" strike="noStrike">
                <a:solidFill>
                  <a:srgbClr val="334155"/>
                </a:solidFill>
                <a:latin typeface="Inter"/>
                <a:ea typeface="Inter"/>
                <a:cs typeface="Inter"/>
                <a:sym typeface="Inter"/>
              </a:rPr>
              <a:t> Quản trị KPI, timeline, và báo cáo tiến độ chặt chẽ.</a:t>
            </a:r>
            <a:endParaRPr/>
          </a:p>
        </p:txBody>
      </p:sp>
      <p:sp>
        <p:nvSpPr>
          <p:cNvPr id="159" name="Google Shape;159;p18"/>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8 Nhánh Chiến Lược Dài Hạn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pic>
        <p:nvPicPr>
          <p:cNvPr descr="image.png" id="164" name="Google Shape;164;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5" name="Google Shape;165;p19"/>
          <p:cNvPicPr preferRelativeResize="0"/>
          <p:nvPr/>
        </p:nvPicPr>
        <p:blipFill rotWithShape="1">
          <a:blip r:embed="rId4">
            <a:alphaModFix/>
          </a:blip>
          <a:srcRect b="0" l="0" r="0" t="0"/>
          <a:stretch/>
        </p:blipFill>
        <p:spPr>
          <a:xfrm>
            <a:off x="6334125" y="2066925"/>
            <a:ext cx="5286375" cy="3619500"/>
          </a:xfrm>
          <a:prstGeom prst="rect">
            <a:avLst/>
          </a:prstGeom>
          <a:noFill/>
          <a:ln>
            <a:noFill/>
          </a:ln>
        </p:spPr>
      </p:pic>
      <p:sp>
        <p:nvSpPr>
          <p:cNvPr id="166" name="Google Shape;166;p19"/>
          <p:cNvSpPr txBox="1"/>
          <p:nvPr/>
        </p:nvSpPr>
        <p:spPr>
          <a:xfrm>
            <a:off x="571500" y="2066925"/>
            <a:ext cx="52863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Webapp là "Digital Hub" - điểm sáng khác biệt của PFC:</a:t>
            </a:r>
            <a:endParaRPr/>
          </a:p>
        </p:txBody>
      </p:sp>
      <p:sp>
        <p:nvSpPr>
          <p:cNvPr id="167" name="Google Shape;167;p19"/>
          <p:cNvSpPr txBox="1"/>
          <p:nvPr/>
        </p:nvSpPr>
        <p:spPr>
          <a:xfrm>
            <a:off x="714375" y="2561272"/>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168" name="Google Shape;168;p19"/>
          <p:cNvSpPr txBox="1"/>
          <p:nvPr/>
        </p:nvSpPr>
        <p:spPr>
          <a:xfrm>
            <a:off x="809625" y="2562225"/>
            <a:ext cx="5048250" cy="54858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Personal Finance Zone:</a:t>
            </a:r>
            <a:r>
              <a:rPr b="0" i="0" lang="en-US" sz="1350" u="none" cap="none" strike="noStrike">
                <a:solidFill>
                  <a:srgbClr val="334155"/>
                </a:solidFill>
                <a:latin typeface="Inter"/>
                <a:ea typeface="Inter"/>
                <a:cs typeface="Inter"/>
                <a:sym typeface="Inter"/>
              </a:rPr>
              <a:t> Công cụ theo dõi chi tiêu, budget tracker, saving challenge.</a:t>
            </a:r>
            <a:endParaRPr/>
          </a:p>
        </p:txBody>
      </p:sp>
      <p:sp>
        <p:nvSpPr>
          <p:cNvPr id="169" name="Google Shape;169;p19"/>
          <p:cNvSpPr txBox="1"/>
          <p:nvPr/>
        </p:nvSpPr>
        <p:spPr>
          <a:xfrm>
            <a:off x="714375" y="3224152"/>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170" name="Google Shape;170;p19"/>
          <p:cNvSpPr txBox="1"/>
          <p:nvPr/>
        </p:nvSpPr>
        <p:spPr>
          <a:xfrm>
            <a:off x="809625" y="3225105"/>
            <a:ext cx="5048250" cy="54858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Project Marketplace:</a:t>
            </a:r>
            <a:r>
              <a:rPr b="0" i="0" lang="en-US" sz="1350" u="none" cap="none" strike="noStrike">
                <a:solidFill>
                  <a:srgbClr val="334155"/>
                </a:solidFill>
                <a:latin typeface="Inter"/>
                <a:ea typeface="Inter"/>
                <a:cs typeface="Inter"/>
                <a:sym typeface="Inter"/>
              </a:rPr>
              <a:t> Nơi sinh viên thử nghiệm và giới thiệu các sản phẩm, ý tưởng tài chính nhỏ.</a:t>
            </a:r>
            <a:endParaRPr/>
          </a:p>
        </p:txBody>
      </p:sp>
      <p:sp>
        <p:nvSpPr>
          <p:cNvPr id="171" name="Google Shape;171;p19"/>
          <p:cNvSpPr txBox="1"/>
          <p:nvPr/>
        </p:nvSpPr>
        <p:spPr>
          <a:xfrm>
            <a:off x="714375" y="3887033"/>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172" name="Google Shape;172;p19"/>
          <p:cNvSpPr txBox="1"/>
          <p:nvPr/>
        </p:nvSpPr>
        <p:spPr>
          <a:xfrm>
            <a:off x="809625" y="3887985"/>
            <a:ext cx="5048250" cy="54858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Opportunity Hub:</a:t>
            </a:r>
            <a:r>
              <a:rPr b="0" i="0" lang="en-US" sz="1350" u="none" cap="none" strike="noStrike">
                <a:solidFill>
                  <a:srgbClr val="334155"/>
                </a:solidFill>
                <a:latin typeface="Inter"/>
                <a:ea typeface="Inter"/>
                <a:cs typeface="Inter"/>
                <a:sym typeface="Inter"/>
              </a:rPr>
              <a:t> Tổng hợp cơ hội thực tập, CTV chất lượng đã được chọn lọc, giảm rủi ro.</a:t>
            </a:r>
            <a:endParaRPr/>
          </a:p>
        </p:txBody>
      </p:sp>
      <p:sp>
        <p:nvSpPr>
          <p:cNvPr id="173" name="Google Shape;173;p19"/>
          <p:cNvSpPr txBox="1"/>
          <p:nvPr/>
        </p:nvSpPr>
        <p:spPr>
          <a:xfrm>
            <a:off x="714375" y="4549913"/>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a:t>
            </a:r>
            <a:endParaRPr/>
          </a:p>
        </p:txBody>
      </p:sp>
      <p:sp>
        <p:nvSpPr>
          <p:cNvPr id="174" name="Google Shape;174;p19"/>
          <p:cNvSpPr txBox="1"/>
          <p:nvPr/>
        </p:nvSpPr>
        <p:spPr>
          <a:xfrm>
            <a:off x="809625" y="4550866"/>
            <a:ext cx="5048250" cy="54858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334155"/>
                </a:solidFill>
                <a:latin typeface="Inter"/>
                <a:ea typeface="Inter"/>
                <a:cs typeface="Inter"/>
                <a:sym typeface="Inter"/>
              </a:rPr>
              <a:t>Club Management:</a:t>
            </a:r>
            <a:r>
              <a:rPr b="0" i="0" lang="en-US" sz="1350" u="none" cap="none" strike="noStrike">
                <a:solidFill>
                  <a:srgbClr val="334155"/>
                </a:solidFill>
                <a:latin typeface="Inter"/>
                <a:ea typeface="Inter"/>
                <a:cs typeface="Inter"/>
                <a:sym typeface="Inter"/>
              </a:rPr>
              <a:t> Nền tảng quản lý thành viên, đăng ký sự kiện và lưu trữ dữ liệu tập trung.</a:t>
            </a:r>
            <a:endParaRPr/>
          </a:p>
        </p:txBody>
      </p:sp>
      <p:pic>
        <p:nvPicPr>
          <p:cNvPr descr="image.png" id="175" name="Google Shape;175;p19"/>
          <p:cNvPicPr preferRelativeResize="0"/>
          <p:nvPr/>
        </p:nvPicPr>
        <p:blipFill rotWithShape="1">
          <a:blip r:embed="rId5">
            <a:alphaModFix/>
          </a:blip>
          <a:srcRect b="0" l="0" r="0" t="0"/>
          <a:stretch/>
        </p:blipFill>
        <p:spPr>
          <a:xfrm>
            <a:off x="6334125" y="2066925"/>
            <a:ext cx="5286375" cy="3619500"/>
          </a:xfrm>
          <a:prstGeom prst="rect">
            <a:avLst/>
          </a:prstGeom>
          <a:noFill/>
          <a:ln>
            <a:noFill/>
          </a:ln>
        </p:spPr>
      </p:pic>
      <p:sp>
        <p:nvSpPr>
          <p:cNvPr id="176" name="Google Shape;176;p19"/>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Vai Trò Của Webapp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pic>
        <p:nvPicPr>
          <p:cNvPr descr="image.png" id="181" name="Google Shape;181;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2" name="Google Shape;182;p20"/>
          <p:cNvSpPr/>
          <p:nvPr/>
        </p:nvSpPr>
        <p:spPr>
          <a:xfrm>
            <a:off x="5524500" y="2568029"/>
            <a:ext cx="1143000" cy="5715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20"/>
          <p:cNvSpPr txBox="1"/>
          <p:nvPr/>
        </p:nvSpPr>
        <p:spPr>
          <a:xfrm>
            <a:off x="1160383" y="3006179"/>
            <a:ext cx="9871233" cy="742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Montserrat"/>
                <a:ea typeface="Montserrat"/>
                <a:cs typeface="Montserrat"/>
                <a:sym typeface="Montserrat"/>
              </a:rPr>
              <a:t>Mục Tiêu Ngắn Hạn (2 Tháng)</a:t>
            </a:r>
            <a:endParaRPr/>
          </a:p>
        </p:txBody>
      </p:sp>
      <p:sp>
        <p:nvSpPr>
          <p:cNvPr id="184" name="Google Shape;184;p20"/>
          <p:cNvSpPr txBox="1"/>
          <p:nvPr/>
        </p:nvSpPr>
        <p:spPr>
          <a:xfrm>
            <a:off x="2286000" y="3939629"/>
            <a:ext cx="7620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475569"/>
                </a:solidFill>
                <a:latin typeface="Inter"/>
                <a:ea typeface="Inter"/>
                <a:cs typeface="Inter"/>
                <a:sym typeface="Inter"/>
              </a:rPr>
              <a:t>Phục hồi hoạt động - Tăng tương tác nội bộ - Phủ sóng hình ảnh - Xây dựng nền móng số (Webapp)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pic>
        <p:nvPicPr>
          <p:cNvPr descr="image.png" id="189" name="Google Shape;189;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0" name="Google Shape;190;p21"/>
          <p:cNvSpPr txBox="1"/>
          <p:nvPr/>
        </p:nvSpPr>
        <p:spPr>
          <a:xfrm>
            <a:off x="571500" y="2466975"/>
            <a:ext cx="5286375" cy="152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000" u="none" cap="none" strike="noStrike">
                <a:solidFill>
                  <a:srgbClr val="14B8A6"/>
                </a:solidFill>
                <a:latin typeface="Montserrat"/>
                <a:ea typeface="Montserrat"/>
                <a:cs typeface="Montserrat"/>
                <a:sym typeface="Montserrat"/>
              </a:rPr>
              <a:t>8</a:t>
            </a:r>
            <a:endParaRPr/>
          </a:p>
        </p:txBody>
      </p:sp>
      <p:sp>
        <p:nvSpPr>
          <p:cNvPr id="191" name="Google Shape;191;p21"/>
          <p:cNvSpPr txBox="1"/>
          <p:nvPr/>
        </p:nvSpPr>
        <p:spPr>
          <a:xfrm>
            <a:off x="571500" y="3990975"/>
            <a:ext cx="5286375"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250" u="none" cap="none" strike="noStrike">
                <a:solidFill>
                  <a:srgbClr val="0F172A"/>
                </a:solidFill>
                <a:latin typeface="Inter"/>
                <a:ea typeface="Inter"/>
                <a:cs typeface="Inter"/>
                <a:sym typeface="Inter"/>
              </a:rPr>
              <a:t>Tuần Vực Dậy PFC</a:t>
            </a:r>
            <a:endParaRPr/>
          </a:p>
        </p:txBody>
      </p:sp>
      <p:sp>
        <p:nvSpPr>
          <p:cNvPr id="192" name="Google Shape;192;p21"/>
          <p:cNvSpPr txBox="1"/>
          <p:nvPr/>
        </p:nvSpPr>
        <p:spPr>
          <a:xfrm>
            <a:off x="6334125" y="2466975"/>
            <a:ext cx="5550693"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14B8A6"/>
                </a:solidFill>
                <a:latin typeface="Montserrat"/>
                <a:ea typeface="Montserrat"/>
                <a:cs typeface="Montserrat"/>
                <a:sym typeface="Montserrat"/>
              </a:rPr>
              <a:t>Hành Động Trọng Tâm</a:t>
            </a:r>
            <a:endParaRPr/>
          </a:p>
        </p:txBody>
      </p:sp>
      <p:sp>
        <p:nvSpPr>
          <p:cNvPr id="193" name="Google Shape;193;p21"/>
          <p:cNvSpPr txBox="1"/>
          <p:nvPr/>
        </p:nvSpPr>
        <p:spPr>
          <a:xfrm>
            <a:off x="6334125" y="3028950"/>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Content Series "Ví tiền sinh viên":</a:t>
            </a:r>
            <a:r>
              <a:rPr b="0" i="0" lang="en-US" sz="1500" u="none" cap="none" strike="noStrike">
                <a:solidFill>
                  <a:srgbClr val="334155"/>
                </a:solidFill>
                <a:latin typeface="Inter"/>
                <a:ea typeface="Inter"/>
                <a:cs typeface="Inter"/>
                <a:sym typeface="Inter"/>
              </a:rPr>
              <a:t> Cung cấp tips quản lý chi tiêu, tiết kiệm, kiếm thêm thu nhập thiết thực.</a:t>
            </a:r>
            <a:endParaRPr/>
          </a:p>
        </p:txBody>
      </p:sp>
      <p:sp>
        <p:nvSpPr>
          <p:cNvPr id="194" name="Google Shape;194;p21"/>
          <p:cNvSpPr txBox="1"/>
          <p:nvPr/>
        </p:nvSpPr>
        <p:spPr>
          <a:xfrm>
            <a:off x="6334125" y="3781425"/>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14-Day Spending Challenge:</a:t>
            </a:r>
            <a:r>
              <a:rPr b="0" i="0" lang="en-US" sz="1500" u="none" cap="none" strike="noStrike">
                <a:solidFill>
                  <a:srgbClr val="334155"/>
                </a:solidFill>
                <a:latin typeface="Inter"/>
                <a:ea typeface="Inter"/>
                <a:cs typeface="Inter"/>
                <a:sym typeface="Inter"/>
              </a:rPr>
              <a:t> Thành viên theo dõi chi tiêu thực tế để rút ra bài học.</a:t>
            </a:r>
            <a:endParaRPr/>
          </a:p>
        </p:txBody>
      </p:sp>
      <p:sp>
        <p:nvSpPr>
          <p:cNvPr id="195" name="Google Shape;195;p21"/>
          <p:cNvSpPr txBox="1"/>
          <p:nvPr/>
        </p:nvSpPr>
        <p:spPr>
          <a:xfrm>
            <a:off x="6334125" y="4533900"/>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Webapp MVP:</a:t>
            </a:r>
            <a:r>
              <a:rPr b="0" i="0" lang="en-US" sz="1500" u="none" cap="none" strike="noStrike">
                <a:solidFill>
                  <a:srgbClr val="334155"/>
                </a:solidFill>
                <a:latin typeface="Inter"/>
                <a:ea typeface="Inter"/>
                <a:cs typeface="Inter"/>
                <a:sym typeface="Inter"/>
              </a:rPr>
              <a:t> Ra mắt landing page, spending tracker và trang content cơ bản ngay trong chiến dịch.</a:t>
            </a:r>
            <a:endParaRPr/>
          </a:p>
        </p:txBody>
      </p:sp>
      <p:sp>
        <p:nvSpPr>
          <p:cNvPr id="196" name="Google Shape;196;p21"/>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Chiến Dịch PFC Financial Reset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pic>
        <p:nvPicPr>
          <p:cNvPr descr="image.png" id="201" name="Google Shape;201;p22"/>
          <p:cNvPicPr preferRelativeResize="0"/>
          <p:nvPr/>
        </p:nvPicPr>
        <p:blipFill rotWithShape="1">
          <a:blip r:embed="rId3">
            <a:alphaModFix/>
          </a:blip>
          <a:srcRect b="0" l="0" r="0" t="0"/>
          <a:stretch/>
        </p:blipFill>
        <p:spPr>
          <a:xfrm>
            <a:off x="0" y="221138"/>
            <a:ext cx="12192000" cy="6858000"/>
          </a:xfrm>
          <a:prstGeom prst="rect">
            <a:avLst/>
          </a:prstGeom>
          <a:noFill/>
          <a:ln>
            <a:noFill/>
          </a:ln>
        </p:spPr>
      </p:pic>
      <p:sp>
        <p:nvSpPr>
          <p:cNvPr id="202" name="Google Shape;202;p22"/>
          <p:cNvSpPr/>
          <p:nvPr/>
        </p:nvSpPr>
        <p:spPr>
          <a:xfrm>
            <a:off x="1333500" y="699471"/>
            <a:ext cx="9525000" cy="1556400"/>
          </a:xfrm>
          <a:prstGeom prst="roundRect">
            <a:avLst>
              <a:gd fmla="val 4896"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2"/>
          <p:cNvSpPr txBox="1"/>
          <p:nvPr/>
        </p:nvSpPr>
        <p:spPr>
          <a:xfrm>
            <a:off x="1905000" y="889971"/>
            <a:ext cx="8763000" cy="7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350" u="none" cap="none" strike="noStrike">
                <a:solidFill>
                  <a:srgbClr val="0F172A"/>
                </a:solidFill>
                <a:latin typeface="Inter"/>
                <a:ea typeface="Inter"/>
                <a:cs typeface="Inter"/>
                <a:sym typeface="Inter"/>
              </a:rPr>
              <a:t>Content &amp; Truyền Thông</a:t>
            </a:r>
            <a:r>
              <a:rPr b="0" i="0" lang="en-US" sz="1350" u="none" cap="none" strike="noStrike">
                <a:solidFill>
                  <a:srgbClr val="334155"/>
                </a:solidFill>
                <a:latin typeface="Inter"/>
                <a:ea typeface="Inter"/>
                <a:cs typeface="Inter"/>
                <a:sym typeface="Inter"/>
              </a:rPr>
              <a:t> </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334155"/>
                </a:solidFill>
                <a:latin typeface="Inter"/>
                <a:ea typeface="Inter"/>
                <a:cs typeface="Inter"/>
                <a:sym typeface="Inter"/>
              </a:rPr>
              <a:t> Đảm bảo 2–3 bài/tuần, 1 short video/tuần (Tổng 8-12 bài chất lượng). Fanpage hoạt động có lịch cố định, tạo Awareness tốt.</a:t>
            </a:r>
            <a:endParaRPr/>
          </a:p>
        </p:txBody>
      </p:sp>
      <p:sp>
        <p:nvSpPr>
          <p:cNvPr id="204" name="Google Shape;204;p22"/>
          <p:cNvSpPr/>
          <p:nvPr/>
        </p:nvSpPr>
        <p:spPr>
          <a:xfrm>
            <a:off x="1333500" y="699471"/>
            <a:ext cx="38100" cy="15564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2"/>
          <p:cNvSpPr/>
          <p:nvPr/>
        </p:nvSpPr>
        <p:spPr>
          <a:xfrm>
            <a:off x="1333500" y="2354397"/>
            <a:ext cx="9525000" cy="1556400"/>
          </a:xfrm>
          <a:prstGeom prst="roundRect">
            <a:avLst>
              <a:gd fmla="val 4896"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2"/>
          <p:cNvSpPr txBox="1"/>
          <p:nvPr/>
        </p:nvSpPr>
        <p:spPr>
          <a:xfrm>
            <a:off x="1905000" y="2544897"/>
            <a:ext cx="8763000" cy="7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350" u="none" cap="none" strike="noStrike">
                <a:solidFill>
                  <a:srgbClr val="0F172A"/>
                </a:solidFill>
                <a:latin typeface="Inter"/>
                <a:ea typeface="Inter"/>
                <a:cs typeface="Inter"/>
                <a:sym typeface="Inter"/>
              </a:rPr>
              <a:t>Activity &amp; Sự Kiện</a:t>
            </a:r>
            <a:r>
              <a:rPr b="0" i="0" lang="en-US" sz="1350" u="none" cap="none" strike="noStrike">
                <a:solidFill>
                  <a:srgbClr val="334155"/>
                </a:solidFill>
                <a:latin typeface="Inter"/>
                <a:ea typeface="Inter"/>
                <a:cs typeface="Inter"/>
                <a:sym typeface="Inter"/>
              </a:rPr>
              <a:t> </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334155"/>
                </a:solidFill>
                <a:latin typeface="Inter"/>
                <a:ea typeface="Inter"/>
                <a:cs typeface="Inter"/>
                <a:sym typeface="Inter"/>
              </a:rPr>
              <a:t> Tổ chức thành công 1 Challenge tài chính (14-Day) và 1 Workshop/Sharing Session với tối thiểu 30-50 người tham gia chất lượng.</a:t>
            </a:r>
            <a:endParaRPr/>
          </a:p>
        </p:txBody>
      </p:sp>
      <p:sp>
        <p:nvSpPr>
          <p:cNvPr id="207" name="Google Shape;207;p22"/>
          <p:cNvSpPr/>
          <p:nvPr/>
        </p:nvSpPr>
        <p:spPr>
          <a:xfrm>
            <a:off x="1333500" y="2354397"/>
            <a:ext cx="38100" cy="15564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2"/>
          <p:cNvSpPr/>
          <p:nvPr/>
        </p:nvSpPr>
        <p:spPr>
          <a:xfrm>
            <a:off x="1333500" y="4053568"/>
            <a:ext cx="9525000" cy="1556400"/>
          </a:xfrm>
          <a:prstGeom prst="roundRect">
            <a:avLst>
              <a:gd fmla="val 4896"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2"/>
          <p:cNvSpPr txBox="1"/>
          <p:nvPr/>
        </p:nvSpPr>
        <p:spPr>
          <a:xfrm>
            <a:off x="1905000" y="4244068"/>
            <a:ext cx="8763000" cy="7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350" u="none" cap="none" strike="noStrike">
                <a:solidFill>
                  <a:srgbClr val="0F172A"/>
                </a:solidFill>
                <a:latin typeface="Inter"/>
                <a:ea typeface="Inter"/>
                <a:cs typeface="Inter"/>
                <a:sym typeface="Inter"/>
              </a:rPr>
              <a:t>Nền Tảng Webapp</a:t>
            </a:r>
            <a:r>
              <a:rPr b="0" i="0" lang="en-US" sz="1350" u="none" cap="none" strike="noStrike">
                <a:solidFill>
                  <a:srgbClr val="334155"/>
                </a:solidFill>
                <a:latin typeface="Inter"/>
                <a:ea typeface="Inter"/>
                <a:cs typeface="Inter"/>
                <a:sym typeface="Inter"/>
              </a:rPr>
              <a:t> </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334155"/>
                </a:solidFill>
                <a:latin typeface="Inter"/>
                <a:ea typeface="Inter"/>
                <a:cs typeface="Inter"/>
                <a:sym typeface="Inter"/>
              </a:rPr>
              <a:t> Hoàn thành phiên bản MVP: Có Landing page, Form đăng ký, Spending tracker, Database người tham gia và Opportunity Hub thử nghiệm.</a:t>
            </a:r>
            <a:endParaRPr/>
          </a:p>
        </p:txBody>
      </p:sp>
      <p:sp>
        <p:nvSpPr>
          <p:cNvPr id="210" name="Google Shape;210;p22"/>
          <p:cNvSpPr/>
          <p:nvPr/>
        </p:nvSpPr>
        <p:spPr>
          <a:xfrm>
            <a:off x="1333500" y="4053568"/>
            <a:ext cx="38100" cy="15564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2"/>
          <p:cNvSpPr/>
          <p:nvPr/>
        </p:nvSpPr>
        <p:spPr>
          <a:xfrm>
            <a:off x="1333500" y="5752738"/>
            <a:ext cx="9525000" cy="1556400"/>
          </a:xfrm>
          <a:prstGeom prst="roundRect">
            <a:avLst>
              <a:gd fmla="val 4896"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2"/>
          <p:cNvSpPr txBox="1"/>
          <p:nvPr/>
        </p:nvSpPr>
        <p:spPr>
          <a:xfrm>
            <a:off x="1905000" y="5943238"/>
            <a:ext cx="8763000" cy="7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350" u="none" cap="none" strike="noStrike">
                <a:solidFill>
                  <a:srgbClr val="0F172A"/>
                </a:solidFill>
                <a:latin typeface="Inter"/>
                <a:ea typeface="Inter"/>
                <a:cs typeface="Inter"/>
                <a:sym typeface="Inter"/>
              </a:rPr>
              <a:t>Đối Ngoại (Connections)</a:t>
            </a:r>
            <a:r>
              <a:rPr b="0" i="0" lang="en-US" sz="1350" u="none" cap="none" strike="noStrike">
                <a:solidFill>
                  <a:srgbClr val="334155"/>
                </a:solidFill>
                <a:latin typeface="Inter"/>
                <a:ea typeface="Inter"/>
                <a:cs typeface="Inter"/>
                <a:sym typeface="Inter"/>
              </a:rPr>
              <a:t> </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334155"/>
                </a:solidFill>
                <a:latin typeface="Inter"/>
                <a:ea typeface="Inter"/>
                <a:cs typeface="Inter"/>
                <a:sym typeface="Inter"/>
              </a:rPr>
              <a:t> Xây dựng database 15-20 alumni/doanh nghiệp. Liên hệ thành công 5 đối tác và chốt ít nhất 1 diễn giả cho workshop.</a:t>
            </a:r>
            <a:endParaRPr/>
          </a:p>
        </p:txBody>
      </p:sp>
      <p:sp>
        <p:nvSpPr>
          <p:cNvPr id="213" name="Google Shape;213;p22"/>
          <p:cNvSpPr/>
          <p:nvPr/>
        </p:nvSpPr>
        <p:spPr>
          <a:xfrm>
            <a:off x="1333500" y="5752738"/>
            <a:ext cx="38100" cy="15564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4" name="Google Shape;214;p22"/>
          <p:cNvPicPr preferRelativeResize="0"/>
          <p:nvPr/>
        </p:nvPicPr>
        <p:blipFill rotWithShape="1">
          <a:blip r:embed="rId4">
            <a:alphaModFix/>
          </a:blip>
          <a:srcRect b="0" l="0" r="0" t="0"/>
          <a:stretch/>
        </p:blipFill>
        <p:spPr>
          <a:xfrm>
            <a:off x="1562100" y="1353720"/>
            <a:ext cx="228600" cy="247650"/>
          </a:xfrm>
          <a:prstGeom prst="rect">
            <a:avLst/>
          </a:prstGeom>
          <a:noFill/>
          <a:ln>
            <a:noFill/>
          </a:ln>
        </p:spPr>
      </p:pic>
      <p:pic>
        <p:nvPicPr>
          <p:cNvPr descr="image.png" id="215" name="Google Shape;215;p22"/>
          <p:cNvPicPr preferRelativeResize="0"/>
          <p:nvPr/>
        </p:nvPicPr>
        <p:blipFill rotWithShape="1">
          <a:blip r:embed="rId5">
            <a:alphaModFix/>
          </a:blip>
          <a:srcRect b="0" l="0" r="0" t="0"/>
          <a:stretch/>
        </p:blipFill>
        <p:spPr>
          <a:xfrm>
            <a:off x="1562100" y="3008645"/>
            <a:ext cx="285750" cy="247650"/>
          </a:xfrm>
          <a:prstGeom prst="rect">
            <a:avLst/>
          </a:prstGeom>
          <a:noFill/>
          <a:ln>
            <a:noFill/>
          </a:ln>
        </p:spPr>
      </p:pic>
      <p:pic>
        <p:nvPicPr>
          <p:cNvPr descr="image.png" id="216" name="Google Shape;216;p22"/>
          <p:cNvPicPr preferRelativeResize="0"/>
          <p:nvPr/>
        </p:nvPicPr>
        <p:blipFill rotWithShape="1">
          <a:blip r:embed="rId6">
            <a:alphaModFix/>
          </a:blip>
          <a:srcRect b="0" l="0" r="0" t="0"/>
          <a:stretch/>
        </p:blipFill>
        <p:spPr>
          <a:xfrm>
            <a:off x="1562100" y="4707816"/>
            <a:ext cx="285750" cy="247650"/>
          </a:xfrm>
          <a:prstGeom prst="rect">
            <a:avLst/>
          </a:prstGeom>
          <a:noFill/>
          <a:ln>
            <a:noFill/>
          </a:ln>
        </p:spPr>
      </p:pic>
      <p:pic>
        <p:nvPicPr>
          <p:cNvPr descr="image.png" id="217" name="Google Shape;217;p22"/>
          <p:cNvPicPr preferRelativeResize="0"/>
          <p:nvPr/>
        </p:nvPicPr>
        <p:blipFill rotWithShape="1">
          <a:blip r:embed="rId7">
            <a:alphaModFix/>
          </a:blip>
          <a:srcRect b="0" l="0" r="0" t="0"/>
          <a:stretch/>
        </p:blipFill>
        <p:spPr>
          <a:xfrm>
            <a:off x="1562100" y="6406987"/>
            <a:ext cx="285750" cy="247650"/>
          </a:xfrm>
          <a:prstGeom prst="rect">
            <a:avLst/>
          </a:prstGeom>
          <a:noFill/>
          <a:ln>
            <a:noFill/>
          </a:ln>
        </p:spPr>
      </p:pic>
      <p:sp>
        <p:nvSpPr>
          <p:cNvPr id="218" name="Google Shape;218;p22"/>
          <p:cNvSpPr txBox="1"/>
          <p:nvPr/>
        </p:nvSpPr>
        <p:spPr>
          <a:xfrm>
            <a:off x="571500" y="147110"/>
            <a:ext cx="116016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Đề Xuất KPI 2 Tháng Đầu Tiên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pic>
        <p:nvPicPr>
          <p:cNvPr descr="image.png" id="223" name="Google Shape;223;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4" name="Google Shape;224;p23"/>
          <p:cNvPicPr preferRelativeResize="0"/>
          <p:nvPr/>
        </p:nvPicPr>
        <p:blipFill rotWithShape="1">
          <a:blip r:embed="rId4">
            <a:alphaModFix/>
          </a:blip>
          <a:srcRect b="0" l="0" r="0" t="0"/>
          <a:stretch/>
        </p:blipFill>
        <p:spPr>
          <a:xfrm>
            <a:off x="571500" y="1466850"/>
            <a:ext cx="11049000" cy="4819650"/>
          </a:xfrm>
          <a:prstGeom prst="rect">
            <a:avLst/>
          </a:prstGeom>
          <a:noFill/>
          <a:ln>
            <a:noFill/>
          </a:ln>
        </p:spPr>
      </p:pic>
      <p:sp>
        <p:nvSpPr>
          <p:cNvPr id="225" name="Google Shape;225;p23"/>
          <p:cNvSpPr txBox="1"/>
          <p:nvPr/>
        </p:nvSpPr>
        <p:spPr>
          <a:xfrm>
            <a:off x="1123950" y="5578822"/>
            <a:ext cx="9944100"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350" u="none" cap="none" strike="noStrike">
                <a:solidFill>
                  <a:srgbClr val="334155"/>
                </a:solidFill>
                <a:latin typeface="Inter"/>
                <a:ea typeface="Inter"/>
                <a:cs typeface="Inter"/>
                <a:sym typeface="Inter"/>
              </a:rPr>
              <a:t>Sự thành công của chiến dịch 8 tuần phụ thuộc vào việc vận hành đồng bộ cả 6 ban, tuân thủ nguyên tắc: Clear Goal → Clear KPI → Clear Deadline → Clear Owner.</a:t>
            </a:r>
            <a:endParaRPr/>
          </a:p>
        </p:txBody>
      </p:sp>
      <p:sp>
        <p:nvSpPr>
          <p:cNvPr id="226" name="Google Shape;226;p23"/>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Cơ Cấu Tổ Chức (6 Ban Cốt Lõi)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pic>
        <p:nvPicPr>
          <p:cNvPr descr="image.png" id="231" name="Google Shape;231;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2" name="Google Shape;232;p24"/>
          <p:cNvPicPr preferRelativeResize="0"/>
          <p:nvPr/>
        </p:nvPicPr>
        <p:blipFill rotWithShape="1">
          <a:blip r:embed="rId4">
            <a:alphaModFix/>
          </a:blip>
          <a:srcRect b="0" l="0" r="0" t="0"/>
          <a:stretch/>
        </p:blipFill>
        <p:spPr>
          <a:xfrm>
            <a:off x="571500" y="1398389"/>
            <a:ext cx="11049000" cy="4956571"/>
          </a:xfrm>
          <a:prstGeom prst="rect">
            <a:avLst/>
          </a:prstGeom>
          <a:noFill/>
          <a:ln>
            <a:noFill/>
          </a:ln>
        </p:spPr>
      </p:pic>
      <p:graphicFrame>
        <p:nvGraphicFramePr>
          <p:cNvPr id="233" name="Google Shape;233;p24"/>
          <p:cNvGraphicFramePr/>
          <p:nvPr/>
        </p:nvGraphicFramePr>
        <p:xfrm>
          <a:off x="581025" y="1407914"/>
          <a:ext cx="3000000" cy="3000000"/>
        </p:xfrm>
        <a:graphic>
          <a:graphicData uri="http://schemas.openxmlformats.org/drawingml/2006/table">
            <a:tbl>
              <a:tblPr bandRow="1" firstRow="1">
                <a:noFill/>
                <a:tableStyleId>{A266EEE1-9492-4551-B953-5CDA3E3704A5}</a:tableStyleId>
              </a:tblPr>
              <a:tblGrid>
                <a:gridCol w="1947575"/>
                <a:gridCol w="4231025"/>
                <a:gridCol w="4851350"/>
              </a:tblGrid>
              <a:tr h="987500">
                <a:tc>
                  <a:txBody>
                    <a:bodyPr/>
                    <a:lstStyle/>
                    <a:p>
                      <a:pPr indent="0" lvl="0" marL="0" marR="0" rtl="0" algn="l">
                        <a:spcBef>
                          <a:spcPts val="0"/>
                        </a:spcBef>
                        <a:spcAft>
                          <a:spcPts val="0"/>
                        </a:spcAft>
                        <a:buNone/>
                      </a:pPr>
                      <a:r>
                        <a:rPr b="0" i="0" lang="en-US" sz="1500" u="none" cap="none" strike="noStrike">
                          <a:solidFill>
                            <a:srgbClr val="FFFFFF"/>
                          </a:solidFill>
                          <a:latin typeface="Montserrat SemiBold"/>
                          <a:ea typeface="Montserrat SemiBold"/>
                          <a:cs typeface="Montserrat SemiBold"/>
                          <a:sym typeface="Montserrat SemiBold"/>
                        </a:rPr>
                        <a:t>Ban / Bộ Phận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FFFFFF"/>
                          </a:solidFill>
                          <a:latin typeface="Montserrat SemiBold"/>
                          <a:ea typeface="Montserrat SemiBold"/>
                          <a:cs typeface="Montserrat SemiBold"/>
                          <a:sym typeface="Montserrat SemiBold"/>
                        </a:rPr>
                        <a:t>Nhiệm Vụ Trọng Tâm (2 Tháng)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FFFFFF"/>
                          </a:solidFill>
                          <a:latin typeface="Montserrat SemiBold"/>
                          <a:ea typeface="Montserrat SemiBold"/>
                          <a:cs typeface="Montserrat SemiBold"/>
                          <a:sym typeface="Montserrat SemiBold"/>
                        </a:rPr>
                        <a:t>Mục Tiêu Bàn Giao (Deliverables)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987500">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Chuyên Môn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Nghiên cứu kiến thức, lên rule cho challenge, tạo tài liệu.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8 outline bài viết, Rule chi tiết 14-Day Challenge, Nội dung Tracker.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87500">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Truyền Thông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Thiết kế ảnh/video, quản lý fanpage, truyền thông sự kiện.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Content Calendar 8 tuần, Visual thống nhất, Đăng bài định kỳ.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987500">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Sự Kiện &amp; Đ.Ngoại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Vận hành Challenge, lập database và liên hệ diễn giả/đối tác.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Tổ chức 1 Workshop, Data 15 contacts, Chốt 1 Speaker.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87500">
                <a:tc>
                  <a:txBody>
                    <a:bodyPr/>
                    <a:lstStyle/>
                    <a:p>
                      <a:pPr indent="0" lvl="0" marL="0" marR="0" rtl="0" algn="l">
                        <a:spcBef>
                          <a:spcPts val="0"/>
                        </a:spcBef>
                        <a:spcAft>
                          <a:spcPts val="0"/>
                        </a:spcAft>
                        <a:buNone/>
                      </a:pPr>
                      <a:r>
                        <a:rPr b="1" i="0" lang="en-US" sz="1350" u="none" cap="none" strike="noStrike">
                          <a:solidFill>
                            <a:srgbClr val="334155"/>
                          </a:solidFill>
                          <a:latin typeface="Inter"/>
                          <a:ea typeface="Inter"/>
                          <a:cs typeface="Inter"/>
                          <a:sym typeface="Inter"/>
                        </a:rPr>
                        <a:t>CNTT (IT)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Xây dựng nền tảng Webapp MVP thu thập data &amp; tracker.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334155"/>
                          </a:solidFill>
                          <a:latin typeface="Inter"/>
                          <a:ea typeface="Inter"/>
                          <a:cs typeface="Inter"/>
                          <a:sym typeface="Inter"/>
                        </a:rPr>
                        <a:t>Landing page, Form đăng ký, Spending Tracker chạy ổn định.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234" name="Google Shape;234;p24"/>
          <p:cNvSpPr/>
          <p:nvPr/>
        </p:nvSpPr>
        <p:spPr>
          <a:xfrm>
            <a:off x="581025" y="2431851"/>
            <a:ext cx="19475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24"/>
          <p:cNvSpPr/>
          <p:nvPr/>
        </p:nvSpPr>
        <p:spPr>
          <a:xfrm>
            <a:off x="2528589" y="2431851"/>
            <a:ext cx="4231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24"/>
          <p:cNvSpPr/>
          <p:nvPr/>
        </p:nvSpPr>
        <p:spPr>
          <a:xfrm>
            <a:off x="6759624" y="2431851"/>
            <a:ext cx="48513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24"/>
          <p:cNvSpPr/>
          <p:nvPr/>
        </p:nvSpPr>
        <p:spPr>
          <a:xfrm>
            <a:off x="581025" y="3409057"/>
            <a:ext cx="19475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24"/>
          <p:cNvSpPr/>
          <p:nvPr/>
        </p:nvSpPr>
        <p:spPr>
          <a:xfrm>
            <a:off x="2528589" y="3409057"/>
            <a:ext cx="4231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4"/>
          <p:cNvSpPr/>
          <p:nvPr/>
        </p:nvSpPr>
        <p:spPr>
          <a:xfrm>
            <a:off x="6759624" y="3409057"/>
            <a:ext cx="48513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4"/>
          <p:cNvSpPr/>
          <p:nvPr/>
        </p:nvSpPr>
        <p:spPr>
          <a:xfrm>
            <a:off x="581025" y="4386262"/>
            <a:ext cx="19475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4"/>
          <p:cNvSpPr/>
          <p:nvPr/>
        </p:nvSpPr>
        <p:spPr>
          <a:xfrm>
            <a:off x="2528589" y="4386262"/>
            <a:ext cx="4231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4"/>
          <p:cNvSpPr/>
          <p:nvPr/>
        </p:nvSpPr>
        <p:spPr>
          <a:xfrm>
            <a:off x="6759624" y="4386262"/>
            <a:ext cx="48513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4"/>
          <p:cNvSpPr/>
          <p:nvPr/>
        </p:nvSpPr>
        <p:spPr>
          <a:xfrm>
            <a:off x="581025" y="5363467"/>
            <a:ext cx="194756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4"/>
          <p:cNvSpPr/>
          <p:nvPr/>
        </p:nvSpPr>
        <p:spPr>
          <a:xfrm>
            <a:off x="2528589" y="5363467"/>
            <a:ext cx="42310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4"/>
          <p:cNvSpPr/>
          <p:nvPr/>
        </p:nvSpPr>
        <p:spPr>
          <a:xfrm>
            <a:off x="6759624" y="5363467"/>
            <a:ext cx="48513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4"/>
          <p:cNvSpPr txBox="1"/>
          <p:nvPr/>
        </p:nvSpPr>
        <p:spPr>
          <a:xfrm>
            <a:off x="571500" y="503039"/>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Phân Công Nhiệm Vụ Chi Tiết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pic>
        <p:nvPicPr>
          <p:cNvPr descr="image.png" id="251" name="Google Shape;251;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2" name="Google Shape;252;p25"/>
          <p:cNvSpPr/>
          <p:nvPr/>
        </p:nvSpPr>
        <p:spPr>
          <a:xfrm>
            <a:off x="571500" y="4038600"/>
            <a:ext cx="11049000" cy="571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5"/>
          <p:cNvSpPr txBox="1"/>
          <p:nvPr/>
        </p:nvSpPr>
        <p:spPr>
          <a:xfrm>
            <a:off x="657987" y="4400550"/>
            <a:ext cx="2368264"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172A"/>
                </a:solidFill>
                <a:latin typeface="Montserrat"/>
                <a:ea typeface="Montserrat"/>
                <a:cs typeface="Montserrat"/>
                <a:sym typeface="Montserrat"/>
              </a:rPr>
              <a:t>Tuần 1 - 2: Planning</a:t>
            </a:r>
            <a:endParaRPr/>
          </a:p>
        </p:txBody>
      </p:sp>
      <p:sp>
        <p:nvSpPr>
          <p:cNvPr id="254" name="Google Shape;254;p25"/>
          <p:cNvSpPr txBox="1"/>
          <p:nvPr/>
        </p:nvSpPr>
        <p:spPr>
          <a:xfrm>
            <a:off x="714375" y="4752975"/>
            <a:ext cx="2255490"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Chốt chiến lược, KPI. Lên Content calendar, Rule challenge và Wireframe Webapp MVP.</a:t>
            </a:r>
            <a:endParaRPr/>
          </a:p>
        </p:txBody>
      </p:sp>
      <p:sp>
        <p:nvSpPr>
          <p:cNvPr id="255" name="Google Shape;255;p25"/>
          <p:cNvSpPr txBox="1"/>
          <p:nvPr/>
        </p:nvSpPr>
        <p:spPr>
          <a:xfrm>
            <a:off x="3493907" y="2507158"/>
            <a:ext cx="2368264"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172A"/>
                </a:solidFill>
                <a:latin typeface="Montserrat"/>
                <a:ea typeface="Montserrat"/>
                <a:cs typeface="Montserrat"/>
                <a:sym typeface="Montserrat"/>
              </a:rPr>
              <a:t>Tuần 3 - 4: Launch</a:t>
            </a:r>
            <a:endParaRPr/>
          </a:p>
        </p:txBody>
      </p:sp>
      <p:sp>
        <p:nvSpPr>
          <p:cNvPr id="256" name="Google Shape;256;p25"/>
          <p:cNvSpPr txBox="1"/>
          <p:nvPr/>
        </p:nvSpPr>
        <p:spPr>
          <a:xfrm>
            <a:off x="3550294" y="2859583"/>
            <a:ext cx="2255490" cy="7313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Đăng series "Ví tiền SV", hoàn thiện Form/Database, và khởi động chạy 14-Day Challenge.</a:t>
            </a:r>
            <a:endParaRPr/>
          </a:p>
        </p:txBody>
      </p:sp>
      <p:sp>
        <p:nvSpPr>
          <p:cNvPr id="257" name="Google Shape;257;p25"/>
          <p:cNvSpPr txBox="1"/>
          <p:nvPr/>
        </p:nvSpPr>
        <p:spPr>
          <a:xfrm>
            <a:off x="6329827" y="4400550"/>
            <a:ext cx="2368264" cy="514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172A"/>
                </a:solidFill>
                <a:latin typeface="Montserrat"/>
                <a:ea typeface="Montserrat"/>
                <a:cs typeface="Montserrat"/>
                <a:sym typeface="Montserrat"/>
              </a:rPr>
              <a:t>Tuần 5 - 6: Engagement</a:t>
            </a:r>
            <a:endParaRPr/>
          </a:p>
        </p:txBody>
      </p:sp>
      <p:sp>
        <p:nvSpPr>
          <p:cNvPr id="258" name="Google Shape;258;p25"/>
          <p:cNvSpPr txBox="1"/>
          <p:nvPr/>
        </p:nvSpPr>
        <p:spPr>
          <a:xfrm>
            <a:off x="6386214" y="5010150"/>
            <a:ext cx="2255490"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Theo dõi tương tác Challenge, rút ra insights chi tiêu, hoàn thiện tính năng Tracker trên Webapp.</a:t>
            </a:r>
            <a:endParaRPr/>
          </a:p>
        </p:txBody>
      </p:sp>
      <p:sp>
        <p:nvSpPr>
          <p:cNvPr id="259" name="Google Shape;259;p25"/>
          <p:cNvSpPr txBox="1"/>
          <p:nvPr/>
        </p:nvSpPr>
        <p:spPr>
          <a:xfrm>
            <a:off x="9165747" y="2507158"/>
            <a:ext cx="2368264"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172A"/>
                </a:solidFill>
                <a:latin typeface="Montserrat"/>
                <a:ea typeface="Montserrat"/>
                <a:cs typeface="Montserrat"/>
                <a:sym typeface="Montserrat"/>
              </a:rPr>
              <a:t>Tuần 7 - 8: Review</a:t>
            </a:r>
            <a:endParaRPr/>
          </a:p>
        </p:txBody>
      </p:sp>
      <p:sp>
        <p:nvSpPr>
          <p:cNvPr id="260" name="Google Shape;260;p25"/>
          <p:cNvSpPr txBox="1"/>
          <p:nvPr/>
        </p:nvSpPr>
        <p:spPr>
          <a:xfrm>
            <a:off x="9222134" y="2859583"/>
            <a:ext cx="2255490" cy="7313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Tổ chức Workshop tổng kết, Demo Webapp MVP, đánh giá KPI và lập plan tháng tiếp theo.</a:t>
            </a:r>
            <a:endParaRPr/>
          </a:p>
        </p:txBody>
      </p:sp>
      <p:sp>
        <p:nvSpPr>
          <p:cNvPr id="261" name="Google Shape;261;p25"/>
          <p:cNvSpPr/>
          <p:nvPr/>
        </p:nvSpPr>
        <p:spPr>
          <a:xfrm>
            <a:off x="1727820" y="3952875"/>
            <a:ext cx="228600" cy="228600"/>
          </a:xfrm>
          <a:prstGeom prst="roundRect">
            <a:avLst>
              <a:gd fmla="val 50000" name="adj"/>
            </a:avLst>
          </a:prstGeom>
          <a:solidFill>
            <a:srgbClr val="FFFFFF"/>
          </a:solidFill>
          <a:ln cap="flat" cmpd="sng" w="47625">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5"/>
          <p:cNvSpPr/>
          <p:nvPr/>
        </p:nvSpPr>
        <p:spPr>
          <a:xfrm>
            <a:off x="4563740" y="3952875"/>
            <a:ext cx="228600" cy="228600"/>
          </a:xfrm>
          <a:prstGeom prst="roundRect">
            <a:avLst>
              <a:gd fmla="val 50000" name="adj"/>
            </a:avLst>
          </a:prstGeom>
          <a:solidFill>
            <a:srgbClr val="FFFFFF"/>
          </a:solidFill>
          <a:ln cap="flat" cmpd="sng" w="47625">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25"/>
          <p:cNvSpPr/>
          <p:nvPr/>
        </p:nvSpPr>
        <p:spPr>
          <a:xfrm>
            <a:off x="7399659" y="3952875"/>
            <a:ext cx="228600" cy="228600"/>
          </a:xfrm>
          <a:prstGeom prst="roundRect">
            <a:avLst>
              <a:gd fmla="val 50000" name="adj"/>
            </a:avLst>
          </a:prstGeom>
          <a:solidFill>
            <a:srgbClr val="FFFFFF"/>
          </a:solidFill>
          <a:ln cap="flat" cmpd="sng" w="47625">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25"/>
          <p:cNvSpPr/>
          <p:nvPr/>
        </p:nvSpPr>
        <p:spPr>
          <a:xfrm>
            <a:off x="10235579" y="3952875"/>
            <a:ext cx="228600" cy="228600"/>
          </a:xfrm>
          <a:prstGeom prst="roundRect">
            <a:avLst>
              <a:gd fmla="val 50000" name="adj"/>
            </a:avLst>
          </a:prstGeom>
          <a:solidFill>
            <a:srgbClr val="FFFFFF"/>
          </a:solidFill>
          <a:ln cap="flat" cmpd="sng" w="47625">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25"/>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Montserrat"/>
                <a:ea typeface="Montserrat"/>
                <a:cs typeface="Montserrat"/>
                <a:sym typeface="Montserrat"/>
              </a:rPr>
              <a:t>Lộ Trình Triển Khai 8 Tuần (Roadmap)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pic>
        <p:nvPicPr>
          <p:cNvPr descr="image.png" id="270" name="Google Shape;270;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1" name="Google Shape;271;p26"/>
          <p:cNvSpPr txBox="1"/>
          <p:nvPr/>
        </p:nvSpPr>
        <p:spPr>
          <a:xfrm>
            <a:off x="295275" y="2264122"/>
            <a:ext cx="11601450" cy="923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0F172A"/>
                </a:solidFill>
                <a:latin typeface="Montserrat"/>
                <a:ea typeface="Montserrat"/>
                <a:cs typeface="Montserrat"/>
                <a:sym typeface="Montserrat"/>
              </a:rPr>
              <a:t>Từ Tầm Nhìn Đến Thực Thi</a:t>
            </a:r>
            <a:endParaRPr/>
          </a:p>
        </p:txBody>
      </p:sp>
      <p:sp>
        <p:nvSpPr>
          <p:cNvPr id="272" name="Google Shape;272;p26"/>
          <p:cNvSpPr txBox="1"/>
          <p:nvPr/>
        </p:nvSpPr>
        <p:spPr>
          <a:xfrm>
            <a:off x="571500" y="3473797"/>
            <a:ext cx="1104900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475569"/>
                </a:solidFill>
                <a:latin typeface="Inter"/>
                <a:ea typeface="Inter"/>
                <a:cs typeface="Inter"/>
                <a:sym typeface="Inter"/>
              </a:rPr>
              <a:t>Rebuild Activity — Engagement — Awareness — Webapp Foundation</a:t>
            </a:r>
            <a:endParaRPr/>
          </a:p>
        </p:txBody>
      </p:sp>
      <p:sp>
        <p:nvSpPr>
          <p:cNvPr id="273" name="Google Shape;273;p26"/>
          <p:cNvSpPr txBox="1"/>
          <p:nvPr/>
        </p:nvSpPr>
        <p:spPr>
          <a:xfrm>
            <a:off x="571500" y="4346227"/>
            <a:ext cx="110490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50">
                <a:solidFill>
                  <a:srgbClr val="14B8A6"/>
                </a:solidFill>
                <a:latin typeface="Inter SemiBold"/>
                <a:ea typeface="Inter SemiBold"/>
                <a:cs typeface="Inter SemiBold"/>
                <a:sym typeface="Inter SemiBold"/>
              </a:rPr>
              <a:t>MAKE </a:t>
            </a:r>
            <a:r>
              <a:rPr b="0" i="0" lang="en-US" sz="1650" u="none" cap="none" strike="noStrike">
                <a:solidFill>
                  <a:srgbClr val="14B8A6"/>
                </a:solidFill>
                <a:latin typeface="Inter SemiBold"/>
                <a:ea typeface="Inter SemiBold"/>
                <a:cs typeface="Inter SemiBold"/>
                <a:sym typeface="Inter SemiBold"/>
              </a:rPr>
              <a:t> PFC </a:t>
            </a:r>
            <a:r>
              <a:rPr lang="en-US" sz="1650">
                <a:solidFill>
                  <a:srgbClr val="14B8A6"/>
                </a:solidFill>
                <a:latin typeface="Inter SemiBold"/>
                <a:ea typeface="Inter SemiBold"/>
                <a:cs typeface="Inter SemiBold"/>
                <a:sym typeface="Inter SemiBold"/>
              </a:rPr>
              <a:t>GREATER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